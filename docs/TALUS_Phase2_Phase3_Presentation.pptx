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Physics-Informed AI for Open-Pit Mine Slope Risk Intelligence</a:t>
            </a:r>
          </a:p>
          <a:p>
            <a:pPr>
              <a:spcAft>
                <a:spcPts val="1000"/>
              </a:spcAft>
              <a:defRPr sz="2000"/>
            </a:pPr>
            <a:r>
              <a:t>Phase II + Phase III Project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Open-pit slopes are affected by geometry, strength, water, deformation and blasting</a:t>
            </a:r>
          </a:p>
          <a:p>
            <a:pPr>
              <a:spcAft>
                <a:spcPts val="1000"/>
              </a:spcAft>
              <a:defRPr sz="2000"/>
            </a:pPr>
            <a:r>
              <a:t>• Physics-only methods may miss multivariate telemetry patterns</a:t>
            </a:r>
          </a:p>
          <a:p>
            <a:pPr>
              <a:spcAft>
                <a:spcPts val="1000"/>
              </a:spcAft>
              <a:defRPr sz="2000"/>
            </a:pPr>
            <a:r>
              <a:t>• Pure ML can be difficult to justify physically</a:t>
            </a:r>
          </a:p>
          <a:p>
            <a:pPr>
              <a:spcAft>
                <a:spcPts val="1000"/>
              </a:spcAft>
              <a:defRPr sz="2000"/>
            </a:pPr>
            <a:r>
              <a:t>• TALUS combines both for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1,200 slope telemetry records</a:t>
            </a:r>
          </a:p>
          <a:p>
            <a:pPr>
              <a:spcAft>
                <a:spcPts val="1000"/>
              </a:spcAft>
              <a:defRPr sz="2000"/>
            </a:pPr>
            <a:r>
              <a:t>• 480 rock/soil laboratory records</a:t>
            </a:r>
          </a:p>
          <a:p>
            <a:pPr>
              <a:spcAft>
                <a:spcPts val="1000"/>
              </a:spcAft>
              <a:defRPr sz="2000"/>
            </a:pPr>
            <a:r>
              <a:t>• 320 image-derived feature records</a:t>
            </a:r>
          </a:p>
          <a:p>
            <a:pPr>
              <a:spcAft>
                <a:spcPts val="1000"/>
              </a:spcAft>
              <a:defRPr sz="2000"/>
            </a:pPr>
            <a:r>
              <a:t>• Cleaning + audit log + EDA</a:t>
            </a:r>
          </a:p>
          <a:p>
            <a:pPr>
              <a:spcAft>
                <a:spcPts val="1000"/>
              </a:spcAft>
              <a:defRPr sz="2000"/>
            </a:pPr>
            <a:r>
              <a:t>• Leakage-safe persisted preprocessing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Physics-Informed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Factor of Safety from limit-equilibrium/infinite-slope formulation</a:t>
            </a:r>
          </a:p>
          <a:p>
            <a:pPr>
              <a:spcAft>
                <a:spcPts val="1000"/>
              </a:spcAft>
              <a:defRPr sz="2000"/>
            </a:pPr>
            <a:r>
              <a:t>• Includes pore pressure, surcharge and blast coefficient</a:t>
            </a:r>
          </a:p>
          <a:p>
            <a:pPr>
              <a:spcAft>
                <a:spcPts val="1000"/>
              </a:spcAft>
              <a:defRPr sz="2000"/>
            </a:pPr>
            <a:r>
              <a:t>• Categories: Critical / High / Moderate / Low</a:t>
            </a:r>
          </a:p>
          <a:p>
            <a:pPr>
              <a:spcAft>
                <a:spcPts val="1000"/>
              </a:spcAft>
              <a:defRPr sz="2000"/>
            </a:pPr>
            <a:r>
              <a:t>• FoS is also supplied to the ML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Logistic Regression</a:t>
            </a:r>
          </a:p>
          <a:p>
            <a:pPr>
              <a:spcAft>
                <a:spcPts val="1000"/>
              </a:spcAft>
              <a:defRPr sz="2000"/>
            </a:pPr>
            <a:r>
              <a:t>• Support Vector Machine</a:t>
            </a:r>
          </a:p>
          <a:p>
            <a:pPr>
              <a:spcAft>
                <a:spcPts val="1000"/>
              </a:spcAft>
              <a:defRPr sz="2000"/>
            </a:pPr>
            <a:r>
              <a:t>• Random Forest</a:t>
            </a:r>
          </a:p>
          <a:p>
            <a:pPr>
              <a:spcAft>
                <a:spcPts val="1000"/>
              </a:spcAft>
              <a:defRPr sz="2000"/>
            </a:pPr>
            <a:r>
              <a:t>• Gradient Boosting</a:t>
            </a:r>
          </a:p>
          <a:p>
            <a:pPr>
              <a:spcAft>
                <a:spcPts val="1000"/>
              </a:spcAft>
              <a:defRPr sz="2000"/>
            </a:pPr>
            <a:r>
              <a:t>• Selection metric: F1 score</a:t>
            </a:r>
          </a:p>
          <a:p>
            <a:pPr>
              <a:spcAft>
                <a:spcPts val="1000"/>
              </a:spcAft>
              <a:defRPr sz="2000"/>
            </a:pPr>
            <a:r>
              <a:t>• Persisted selected model: Logistic Regression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Explainable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Physics category</a:t>
            </a:r>
          </a:p>
          <a:p>
            <a:pPr>
              <a:spcAft>
                <a:spcPts val="1000"/>
              </a:spcAft>
              <a:defRPr sz="2000"/>
            </a:pPr>
            <a:r>
              <a:t>• ML risk class + probability</a:t>
            </a:r>
          </a:p>
          <a:p>
            <a:pPr>
              <a:spcAft>
                <a:spcPts val="1000"/>
              </a:spcAft>
              <a:defRPr sz="2000"/>
            </a:pPr>
            <a:r>
              <a:t>• Local feature contributors</a:t>
            </a:r>
          </a:p>
          <a:p>
            <a:pPr>
              <a:spcAft>
                <a:spcPts val="1000"/>
              </a:spcAft>
              <a:defRPr sz="2000"/>
            </a:pPr>
            <a:r>
              <a:t>• Engineering-oriented recommendation</a:t>
            </a:r>
          </a:p>
          <a:p>
            <a:pPr>
              <a:spcAft>
                <a:spcPts val="1000"/>
              </a:spcAft>
              <a:defRPr sz="2000"/>
            </a:pPr>
            <a:r>
              <a:t>• Every assessment receives a database record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 → Preprocessing/EDA → Physics Engine → ML → XAI → SQLite → FastAPI → Streamlit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The UI does not silently run a local model when the API is unavailable.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Phase II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Live Mine Overview for dataset-driven sectors</a:t>
            </a:r>
          </a:p>
          <a:p>
            <a:pPr>
              <a:spcAft>
                <a:spcPts val="1000"/>
              </a:spcAft>
              <a:defRPr sz="2000"/>
            </a:pPr>
            <a:r>
              <a:t>• Sector analysis form</a:t>
            </a:r>
          </a:p>
          <a:p>
            <a:pPr>
              <a:spcAft>
                <a:spcPts val="1000"/>
              </a:spcAft>
              <a:defRPr sz="2000"/>
            </a:pPr>
            <a:r>
              <a:t>• Risk timeline</a:t>
            </a:r>
          </a:p>
          <a:p>
            <a:pPr>
              <a:spcAft>
                <a:spcPts val="1000"/>
              </a:spcAft>
              <a:defRPr sz="2000"/>
            </a:pPr>
            <a:r>
              <a:t>• Data Intelligence / EDA</a:t>
            </a:r>
          </a:p>
          <a:p>
            <a:pPr>
              <a:spcAft>
                <a:spcPts val="1000"/>
              </a:spcAft>
              <a:defRPr sz="2000"/>
            </a:pPr>
            <a:r>
              <a:t>• Model comparison</a:t>
            </a:r>
          </a:p>
          <a:p>
            <a:pPr>
              <a:spcAft>
                <a:spcPts val="1000"/>
              </a:spcAft>
              <a:defRPr sz="2000"/>
            </a:pPr>
            <a:r>
              <a:t>• What-if simulator</a:t>
            </a:r>
          </a:p>
          <a:p>
            <a:pPr>
              <a:spcAft>
                <a:spcPts val="1000"/>
              </a:spcAft>
              <a:defRPr sz="2000"/>
            </a:pPr>
            <a:r>
              <a:t>• Result analysis + business/engineering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Phase III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Docker backend + frontend</a:t>
            </a:r>
          </a:p>
          <a:p>
            <a:pPr>
              <a:spcAft>
                <a:spcPts val="1000"/>
              </a:spcAft>
              <a:defRPr sz="2000"/>
            </a:pPr>
            <a:r>
              <a:t>• Docker Compose</a:t>
            </a:r>
          </a:p>
          <a:p>
            <a:pPr>
              <a:spcAft>
                <a:spcPts val="1000"/>
              </a:spcAft>
              <a:defRPr sz="2000"/>
            </a:pPr>
            <a:r>
              <a:t>• Render deployment blueprint</a:t>
            </a:r>
          </a:p>
          <a:p>
            <a:pPr>
              <a:spcAft>
                <a:spcPts val="1000"/>
              </a:spcAft>
              <a:defRPr sz="2000"/>
            </a:pPr>
            <a:r>
              <a:t>• Health and Swagger endpoints</a:t>
            </a:r>
          </a:p>
          <a:p>
            <a:pPr>
              <a:spcAft>
                <a:spcPts val="1000"/>
              </a:spcAft>
              <a:defRPr sz="2000"/>
            </a:pPr>
            <a:r>
              <a:t>• Automated tests</a:t>
            </a:r>
          </a:p>
          <a:p>
            <a:pPr>
              <a:spcAft>
                <a:spcPts val="1000"/>
              </a:spcAft>
              <a:defRPr sz="2000"/>
            </a:pPr>
            <a:r>
              <a:t>• GitHub Actions CI</a:t>
            </a:r>
          </a:p>
          <a:p>
            <a:pPr>
              <a:spcAft>
                <a:spcPts val="1000"/>
              </a:spcAft>
              <a:defRPr sz="2000"/>
            </a:pPr>
            <a:r>
              <a:t>• Report + viva + demo runbook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Key Engineering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database previously contained a fixed S1–S6 demo registry while processed telemetry contained 10 sectors.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The upgraded version derives the registry from processed telemetry, so the dashboard follows the data instead of a hard-coded assumption.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Selected model: Logistic Regression</a:t>
            </a:r>
          </a:p>
          <a:p>
            <a:pPr>
              <a:spcAft>
                <a:spcPts val="1000"/>
              </a:spcAft>
              <a:defRPr sz="2000"/>
            </a:pPr>
            <a:r>
              <a:t>Accuracy: 0.8417</a:t>
            </a:r>
          </a:p>
          <a:p>
            <a:pPr>
              <a:spcAft>
                <a:spcPts val="1000"/>
              </a:spcAft>
              <a:defRPr sz="2000"/>
            </a:pPr>
            <a:r>
              <a:t>Precision: 0.6126</a:t>
            </a:r>
          </a:p>
          <a:p>
            <a:pPr>
              <a:spcAft>
                <a:spcPts val="1000"/>
              </a:spcAft>
              <a:defRPr sz="2000"/>
            </a:pPr>
            <a:r>
              <a:t>Recall: 0.6329</a:t>
            </a:r>
          </a:p>
          <a:p>
            <a:pPr>
              <a:spcAft>
                <a:spcPts val="1000"/>
              </a:spcAft>
              <a:defRPr sz="2000"/>
            </a:pPr>
            <a:r>
              <a:t>F1: 0.6217</a:t>
            </a:r>
          </a:p>
          <a:p>
            <a:pPr>
              <a:spcAft>
                <a:spcPts val="1000"/>
              </a:spcAft>
              <a:defRPr sz="2000"/>
            </a:pPr>
            <a:r>
              <a:t>ROC-AUC: 0.9286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These are offline dataset metrics, not operational safety guarantees.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Mine Overview</a:t>
            </a:r>
          </a:p>
          <a:p>
            <a:pPr>
              <a:spcAft>
                <a:spcPts val="1000"/>
              </a:spcAft>
              <a:defRPr sz="2000"/>
            </a:pPr>
            <a:r>
              <a:t>2. Analyze Sector</a:t>
            </a:r>
          </a:p>
          <a:p>
            <a:pPr>
              <a:spcAft>
                <a:spcPts val="1000"/>
              </a:spcAft>
              <a:defRPr sz="2000"/>
            </a:pPr>
            <a:r>
              <a:t>3. Run a what-if hazard scenario</a:t>
            </a:r>
          </a:p>
          <a:p>
            <a:pPr>
              <a:spcAft>
                <a:spcPts val="1000"/>
              </a:spcAft>
              <a:defRPr sz="2000"/>
            </a:pPr>
            <a:r>
              <a:t>4. Show Risk Timeline</a:t>
            </a:r>
          </a:p>
          <a:p>
            <a:pPr>
              <a:spcAft>
                <a:spcPts val="1000"/>
              </a:spcAft>
              <a:defRPr sz="2000"/>
            </a:pPr>
            <a:r>
              <a:t>5. Show Data Intelligence</a:t>
            </a:r>
          </a:p>
          <a:p>
            <a:pPr>
              <a:spcAft>
                <a:spcPts val="1000"/>
              </a:spcAft>
              <a:defRPr sz="2000"/>
            </a:pPr>
            <a:r>
              <a:t>6. Show Model Performance</a:t>
            </a:r>
          </a:p>
          <a:p>
            <a:pPr>
              <a:spcAft>
                <a:spcPts val="1000"/>
              </a:spcAft>
              <a:defRPr sz="2000"/>
            </a:pPr>
            <a:r>
              <a:t>7. Show deployment +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External validation on real mine-site data</a:t>
            </a:r>
          </a:p>
          <a:p>
            <a:pPr>
              <a:spcAft>
                <a:spcPts val="1000"/>
              </a:spcAft>
              <a:defRPr sz="2000"/>
            </a:pPr>
            <a:r>
              <a:t>• Temporal and leave-one-sector-out evaluation</a:t>
            </a:r>
          </a:p>
          <a:p>
            <a:pPr>
              <a:spcAft>
                <a:spcPts val="1000"/>
              </a:spcAft>
              <a:defRPr sz="2000"/>
            </a:pPr>
            <a:r>
              <a:t>• Sensor QA/QC and uncertainty quantification</a:t>
            </a:r>
          </a:p>
          <a:p>
            <a:pPr>
              <a:spcAft>
                <a:spcPts val="1000"/>
              </a:spcAft>
              <a:defRPr sz="2000"/>
            </a:pPr>
            <a:r>
              <a:t>• Model drift monitoring</a:t>
            </a:r>
          </a:p>
          <a:p>
            <a:pPr>
              <a:spcAft>
                <a:spcPts val="1000"/>
              </a:spcAft>
              <a:defRPr sz="2000"/>
            </a:pPr>
            <a:r>
              <a:t>• Production database and authentication</a:t>
            </a:r>
          </a:p>
          <a:p>
            <a:pPr>
              <a:spcAft>
                <a:spcPts val="1000"/>
              </a:spcAft>
              <a:defRPr sz="2000"/>
            </a:pPr>
            <a:r>
              <a:t>• Certified geotechnical approval before operational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Viva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TALUS is more than a classifier: it integrates engineering physics, ML, XAI, temporal evidence and an API-first architecture into one reproducible decision-support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